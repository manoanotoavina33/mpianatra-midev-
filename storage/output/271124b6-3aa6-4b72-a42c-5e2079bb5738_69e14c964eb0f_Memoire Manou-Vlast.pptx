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Oval 1"/>
          <p:cNvSpPr/>
          <p:nvPr/>
        </p:nvSpPr>
        <p:spPr>
          <a:xfrm>
            <a:off x="3200400" y="1371600"/>
            <a:ext cx="2743200" cy="2743200"/>
          </a:xfrm>
          <a:prstGeom prst="ellipse">
            <a:avLst/>
          </a:prstGeom>
          <a:solidFill>
            <a:srgbClr val="FB9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286000"/>
            <a:ext cx="7315200" cy="1371600"/>
          </a:xfrm>
          <a:prstGeom prst="rect">
            <a:avLst/>
          </a:prstGeom>
          <a:noFill/>
        </p:spPr>
        <p:txBody>
          <a:bodyPr wrap="square">
            <a:spAutoFit/>
          </a:bodyPr>
          <a:lstStyle/>
          <a:p>
            <a:pPr algn="ctr"/>
            <a:r>
              <a:rPr sz="4800" b="1">
                <a:solidFill>
                  <a:srgbClr val="FFFFFF"/>
                </a:solidFill>
              </a:rPr>
              <a:t>Bonsoir ! 🌙</a:t>
            </a:r>
          </a:p>
        </p:txBody>
      </p:sp>
      <p:sp>
        <p:nvSpPr>
          <p:cNvPr id="4" name="TextBox 3"/>
          <p:cNvSpPr txBox="1"/>
          <p:nvPr/>
        </p:nvSpPr>
        <p:spPr>
          <a:xfrm>
            <a:off x="914400" y="3840480"/>
            <a:ext cx="7315200" cy="914400"/>
          </a:xfrm>
          <a:prstGeom prst="rect">
            <a:avLst/>
          </a:prstGeom>
          <a:noFill/>
        </p:spPr>
        <p:txBody>
          <a:bodyPr wrap="square">
            <a:spAutoFit/>
          </a:bodyPr>
          <a:lstStyle/>
          <a:p>
            <a:pPr algn="ctr"/>
            <a:r>
              <a:rPr sz="2000" b="0">
                <a:solidFill>
                  <a:srgbClr val="94A3B8"/>
                </a:solidFill>
              </a:rPr>
              <a:t>Mpianatra-midev</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2011680"/>
            <a:ext cx="9144000" cy="45720"/>
          </a:xfrm>
          <a:prstGeom prst="rect">
            <a:avLst/>
          </a:prstGeom>
          <a:solidFill>
            <a:srgbClr val="FB9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1645920"/>
          </a:xfrm>
          <a:prstGeom prst="rect">
            <a:avLst/>
          </a:prstGeom>
          <a:noFill/>
        </p:spPr>
        <p:txBody>
          <a:bodyPr wrap="square">
            <a:spAutoFit/>
          </a:bodyPr>
          <a:lstStyle/>
          <a:p>
            <a:pPr algn="ctr"/>
            <a:r>
              <a:rPr sz="3200" b="1">
                <a:solidFill>
                  <a:srgbClr val="FB923C"/>
                </a:solidFill>
              </a:rPr>
              <a:t>Mémoire Stage</a:t>
            </a:r>
          </a:p>
        </p:txBody>
      </p:sp>
      <p:sp>
        <p:nvSpPr>
          <p:cNvPr id="4" name="TextBox 3"/>
          <p:cNvSpPr txBox="1"/>
          <p:nvPr/>
        </p:nvSpPr>
        <p:spPr>
          <a:xfrm>
            <a:off x="914400" y="5943600"/>
            <a:ext cx="7315200" cy="548640"/>
          </a:xfrm>
          <a:prstGeom prst="rect">
            <a:avLst/>
          </a:prstGeom>
          <a:noFill/>
        </p:spPr>
        <p:txBody>
          <a:bodyPr wrap="square">
            <a:spAutoFit/>
          </a:bodyPr>
          <a:lstStyle/>
          <a:p>
            <a:pPr algn="ctr"/>
            <a:r>
              <a:rPr sz="1100" b="0">
                <a:solidFill>
                  <a:srgbClr val="94A3B8"/>
                </a:solidFill>
              </a:rPr>
              <a:t>Généré par Mpianatra-midev</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457200" y="182880"/>
            <a:ext cx="8229600" cy="822960"/>
          </a:xfrm>
          <a:prstGeom prst="rect">
            <a:avLst/>
          </a:prstGeom>
          <a:noFill/>
        </p:spPr>
        <p:txBody>
          <a:bodyPr wrap="square">
            <a:spAutoFit/>
          </a:bodyPr>
          <a:lstStyle/>
          <a:p>
            <a:pPr algn="l"/>
            <a:r>
              <a:rPr sz="2800" b="1">
                <a:solidFill>
                  <a:srgbClr val="FB923C"/>
                </a:solidFill>
              </a:rPr>
              <a:t>📋 Sommaire</a:t>
            </a:r>
          </a:p>
        </p:txBody>
      </p:sp>
      <p:sp>
        <p:nvSpPr>
          <p:cNvPr id="3" name="Rectangle 2"/>
          <p:cNvSpPr/>
          <p:nvPr/>
        </p:nvSpPr>
        <p:spPr>
          <a:xfrm>
            <a:off x="457200" y="1005840"/>
            <a:ext cx="8229600" cy="27432"/>
          </a:xfrm>
          <a:prstGeom prst="rect">
            <a:avLst/>
          </a:prstGeom>
          <a:solidFill>
            <a:srgbClr val="FB9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188720"/>
            <a:ext cx="7772400" cy="502920"/>
          </a:xfrm>
          <a:prstGeom prst="rect">
            <a:avLst/>
          </a:prstGeom>
          <a:noFill/>
        </p:spPr>
        <p:txBody>
          <a:bodyPr wrap="square">
            <a:spAutoFit/>
          </a:bodyPr>
          <a:lstStyle/>
          <a:p>
            <a:pPr algn="l"/>
            <a:r>
              <a:rPr sz="1500" b="0">
                <a:solidFill>
                  <a:srgbClr val="FFFFFF"/>
                </a:solidFill>
              </a:rPr>
              <a:t>1.  Introduction</a:t>
            </a:r>
          </a:p>
        </p:txBody>
      </p:sp>
      <p:sp>
        <p:nvSpPr>
          <p:cNvPr id="5" name="TextBox 4"/>
          <p:cNvSpPr txBox="1"/>
          <p:nvPr/>
        </p:nvSpPr>
        <p:spPr>
          <a:xfrm>
            <a:off x="731520" y="1719072"/>
            <a:ext cx="7772400" cy="502920"/>
          </a:xfrm>
          <a:prstGeom prst="rect">
            <a:avLst/>
          </a:prstGeom>
          <a:noFill/>
        </p:spPr>
        <p:txBody>
          <a:bodyPr wrap="square">
            <a:spAutoFit/>
          </a:bodyPr>
          <a:lstStyle/>
          <a:p>
            <a:pPr algn="l"/>
            <a:r>
              <a:rPr sz="1500" b="0">
                <a:solidFill>
                  <a:srgbClr val="FFFFFF"/>
                </a:solidFill>
              </a:rPr>
              <a:t>2.  Objectifs</a:t>
            </a:r>
          </a:p>
        </p:txBody>
      </p:sp>
      <p:sp>
        <p:nvSpPr>
          <p:cNvPr id="6" name="TextBox 5"/>
          <p:cNvSpPr txBox="1"/>
          <p:nvPr/>
        </p:nvSpPr>
        <p:spPr>
          <a:xfrm>
            <a:off x="731520" y="2249424"/>
            <a:ext cx="7772400" cy="502920"/>
          </a:xfrm>
          <a:prstGeom prst="rect">
            <a:avLst/>
          </a:prstGeom>
          <a:noFill/>
        </p:spPr>
        <p:txBody>
          <a:bodyPr wrap="square">
            <a:spAutoFit/>
          </a:bodyPr>
          <a:lstStyle/>
          <a:p>
            <a:pPr algn="l"/>
            <a:r>
              <a:rPr sz="1500" b="0">
                <a:solidFill>
                  <a:srgbClr val="FFFFFF"/>
                </a:solidFill>
              </a:rPr>
              <a:t>3.  Avant-propos</a:t>
            </a:r>
          </a:p>
        </p:txBody>
      </p:sp>
      <p:sp>
        <p:nvSpPr>
          <p:cNvPr id="7" name="TextBox 6"/>
          <p:cNvSpPr txBox="1"/>
          <p:nvPr/>
        </p:nvSpPr>
        <p:spPr>
          <a:xfrm>
            <a:off x="731520" y="2779776"/>
            <a:ext cx="7772400" cy="502920"/>
          </a:xfrm>
          <a:prstGeom prst="rect">
            <a:avLst/>
          </a:prstGeom>
          <a:noFill/>
        </p:spPr>
        <p:txBody>
          <a:bodyPr wrap="square">
            <a:spAutoFit/>
          </a:bodyPr>
          <a:lstStyle/>
          <a:p>
            <a:pPr algn="l"/>
            <a:r>
              <a:rPr sz="1500" b="0">
                <a:solidFill>
                  <a:srgbClr val="FFFFFF"/>
                </a:solidFill>
              </a:rPr>
              <a:t>4.  Méthodologie</a:t>
            </a:r>
          </a:p>
        </p:txBody>
      </p:sp>
      <p:sp>
        <p:nvSpPr>
          <p:cNvPr id="8" name="TextBox 7"/>
          <p:cNvSpPr txBox="1"/>
          <p:nvPr/>
        </p:nvSpPr>
        <p:spPr>
          <a:xfrm>
            <a:off x="731520" y="3310128"/>
            <a:ext cx="7772400" cy="502920"/>
          </a:xfrm>
          <a:prstGeom prst="rect">
            <a:avLst/>
          </a:prstGeom>
          <a:noFill/>
        </p:spPr>
        <p:txBody>
          <a:bodyPr wrap="square">
            <a:spAutoFit/>
          </a:bodyPr>
          <a:lstStyle/>
          <a:p>
            <a:pPr algn="l"/>
            <a:r>
              <a:rPr sz="1500" b="0">
                <a:solidFill>
                  <a:srgbClr val="FFFFFF"/>
                </a:solidFill>
              </a:rPr>
              <a:t>5.  Résultats</a:t>
            </a:r>
          </a:p>
        </p:txBody>
      </p:sp>
      <p:sp>
        <p:nvSpPr>
          <p:cNvPr id="9" name="TextBox 8"/>
          <p:cNvSpPr txBox="1"/>
          <p:nvPr/>
        </p:nvSpPr>
        <p:spPr>
          <a:xfrm>
            <a:off x="731520" y="3840480"/>
            <a:ext cx="7772400" cy="502920"/>
          </a:xfrm>
          <a:prstGeom prst="rect">
            <a:avLst/>
          </a:prstGeom>
          <a:noFill/>
        </p:spPr>
        <p:txBody>
          <a:bodyPr wrap="square">
            <a:spAutoFit/>
          </a:bodyPr>
          <a:lstStyle/>
          <a:p>
            <a:pPr algn="l"/>
            <a:r>
              <a:rPr sz="1500" b="0">
                <a:solidFill>
                  <a:srgbClr val="FFFFFF"/>
                </a:solidFill>
              </a:rPr>
              <a:t>6.  Discussion</a:t>
            </a:r>
          </a:p>
        </p:txBody>
      </p:sp>
      <p:sp>
        <p:nvSpPr>
          <p:cNvPr id="10" name="TextBox 9"/>
          <p:cNvSpPr txBox="1"/>
          <p:nvPr/>
        </p:nvSpPr>
        <p:spPr>
          <a:xfrm>
            <a:off x="731520" y="4370832"/>
            <a:ext cx="7772400" cy="502920"/>
          </a:xfrm>
          <a:prstGeom prst="rect">
            <a:avLst/>
          </a:prstGeom>
          <a:noFill/>
        </p:spPr>
        <p:txBody>
          <a:bodyPr wrap="square">
            <a:spAutoFit/>
          </a:bodyPr>
          <a:lstStyle/>
          <a:p>
            <a:pPr algn="l"/>
            <a:r>
              <a:rPr sz="1500" b="0">
                <a:solidFill>
                  <a:srgbClr val="FFFFFF"/>
                </a:solidFill>
              </a:rPr>
              <a:t>7.  Conclusion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365760" cy="6858000"/>
          </a:xfrm>
          <a:prstGeom prst="rect">
            <a:avLst/>
          </a:prstGeom>
          <a:solidFill>
            <a:srgbClr val="FB9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82880"/>
            <a:ext cx="8229600" cy="914400"/>
          </a:xfrm>
          <a:prstGeom prst="rect">
            <a:avLst/>
          </a:prstGeom>
          <a:noFill/>
        </p:spPr>
        <p:txBody>
          <a:bodyPr wrap="square">
            <a:spAutoFit/>
          </a:bodyPr>
          <a:lstStyle/>
          <a:p>
            <a:pPr algn="l"/>
            <a:r>
              <a:rPr sz="2600" b="1">
                <a:solidFill>
                  <a:srgbClr val="FB923C"/>
                </a:solidFill>
              </a:rPr>
              <a:t>Introduction</a:t>
            </a:r>
          </a:p>
        </p:txBody>
      </p:sp>
      <p:sp>
        <p:nvSpPr>
          <p:cNvPr id="4" name="Rectangle 3"/>
          <p:cNvSpPr/>
          <p:nvPr/>
        </p:nvSpPr>
        <p:spPr>
          <a:xfrm>
            <a:off x="548640" y="1051560"/>
            <a:ext cx="8046720" cy="27432"/>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188720"/>
            <a:ext cx="8229600" cy="1097280"/>
          </a:xfrm>
          <a:prstGeom prst="rect">
            <a:avLst/>
          </a:prstGeom>
          <a:noFill/>
        </p:spPr>
        <p:txBody>
          <a:bodyPr wrap="square">
            <a:spAutoFit/>
          </a:bodyPr>
          <a:lstStyle/>
          <a:p>
            <a:pPr algn="l"/>
            <a:r>
              <a:rPr sz="1500" b="0">
                <a:solidFill>
                  <a:srgbClr val="94A3B8"/>
                </a:solidFill>
              </a:rPr>
              <a:t>Le stage a été une expérience enrichissante qui a permis de mettre en pratique les connaissances théoriques acquises pendant les cours de formation pour l'obtention du Diplôme de Technicien Supérieur (DTS) en informatique.</a:t>
            </a:r>
          </a:p>
        </p:txBody>
      </p:sp>
      <p:sp>
        <p:nvSpPr>
          <p:cNvPr id="6" name="TextBox 5"/>
          <p:cNvSpPr txBox="1"/>
          <p:nvPr/>
        </p:nvSpPr>
        <p:spPr>
          <a:xfrm>
            <a:off x="731520" y="2377440"/>
            <a:ext cx="8046720" cy="685800"/>
          </a:xfrm>
          <a:prstGeom prst="rect">
            <a:avLst/>
          </a:prstGeom>
          <a:noFill/>
        </p:spPr>
        <p:txBody>
          <a:bodyPr wrap="square">
            <a:spAutoFit/>
          </a:bodyPr>
          <a:lstStyle/>
          <a:p>
            <a:pPr algn="l"/>
            <a:r>
              <a:rPr sz="1400" b="0">
                <a:solidFill>
                  <a:srgbClr val="FFFFFF"/>
                </a:solidFill>
              </a:rPr>
              <a:t>▶  Stage pratique</a:t>
            </a:r>
          </a:p>
        </p:txBody>
      </p:sp>
      <p:sp>
        <p:nvSpPr>
          <p:cNvPr id="7" name="TextBox 6"/>
          <p:cNvSpPr txBox="1"/>
          <p:nvPr/>
        </p:nvSpPr>
        <p:spPr>
          <a:xfrm>
            <a:off x="731520" y="3127248"/>
            <a:ext cx="8046720" cy="685800"/>
          </a:xfrm>
          <a:prstGeom prst="rect">
            <a:avLst/>
          </a:prstGeom>
          <a:noFill/>
        </p:spPr>
        <p:txBody>
          <a:bodyPr wrap="square">
            <a:spAutoFit/>
          </a:bodyPr>
          <a:lstStyle/>
          <a:p>
            <a:pPr algn="l"/>
            <a:r>
              <a:rPr sz="1400" b="0">
                <a:solidFill>
                  <a:srgbClr val="FFFFFF"/>
                </a:solidFill>
              </a:rPr>
              <a:t>▶  TIA INFO</a:t>
            </a:r>
          </a:p>
        </p:txBody>
      </p:sp>
      <p:sp>
        <p:nvSpPr>
          <p:cNvPr id="8" name="TextBox 7"/>
          <p:cNvSpPr txBox="1"/>
          <p:nvPr/>
        </p:nvSpPr>
        <p:spPr>
          <a:xfrm>
            <a:off x="731520" y="3877056"/>
            <a:ext cx="8046720" cy="685800"/>
          </a:xfrm>
          <a:prstGeom prst="rect">
            <a:avLst/>
          </a:prstGeom>
          <a:noFill/>
        </p:spPr>
        <p:txBody>
          <a:bodyPr wrap="square">
            <a:spAutoFit/>
          </a:bodyPr>
          <a:lstStyle/>
          <a:p>
            <a:pPr algn="l"/>
            <a:r>
              <a:rPr sz="1400" b="0">
                <a:solidFill>
                  <a:srgbClr val="FFFFFF"/>
                </a:solidFill>
              </a:rPr>
              <a:t>▶  Développement de compétences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365760" cy="68580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82880"/>
            <a:ext cx="8229600" cy="914400"/>
          </a:xfrm>
          <a:prstGeom prst="rect">
            <a:avLst/>
          </a:prstGeom>
          <a:noFill/>
        </p:spPr>
        <p:txBody>
          <a:bodyPr wrap="square">
            <a:spAutoFit/>
          </a:bodyPr>
          <a:lstStyle/>
          <a:p>
            <a:pPr algn="l"/>
            <a:r>
              <a:rPr sz="2600" b="1">
                <a:solidFill>
                  <a:srgbClr val="38BDF8"/>
                </a:solidFill>
              </a:rPr>
              <a:t>Objectifs</a:t>
            </a:r>
          </a:p>
        </p:txBody>
      </p:sp>
      <p:sp>
        <p:nvSpPr>
          <p:cNvPr id="4" name="Rectangle 3"/>
          <p:cNvSpPr/>
          <p:nvPr/>
        </p:nvSpPr>
        <p:spPr>
          <a:xfrm>
            <a:off x="548640" y="1051560"/>
            <a:ext cx="8046720" cy="27432"/>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188720"/>
            <a:ext cx="8229600" cy="1097280"/>
          </a:xfrm>
          <a:prstGeom prst="rect">
            <a:avLst/>
          </a:prstGeom>
          <a:noFill/>
        </p:spPr>
        <p:txBody>
          <a:bodyPr wrap="square">
            <a:spAutoFit/>
          </a:bodyPr>
          <a:lstStyle/>
          <a:p>
            <a:pPr algn="l"/>
            <a:r>
              <a:rPr sz="1500" b="0">
                <a:solidFill>
                  <a:srgbClr val="94A3B8"/>
                </a:solidFill>
              </a:rPr>
              <a:t>Les objectifs du stage étaient de développer des compétences professionnelles dans le domaine de l'informatique et de mettre en pratique les connaissances théoriques acquises pendant les cours.</a:t>
            </a:r>
          </a:p>
        </p:txBody>
      </p:sp>
      <p:sp>
        <p:nvSpPr>
          <p:cNvPr id="6" name="TextBox 5"/>
          <p:cNvSpPr txBox="1"/>
          <p:nvPr/>
        </p:nvSpPr>
        <p:spPr>
          <a:xfrm>
            <a:off x="731520" y="2377440"/>
            <a:ext cx="8046720" cy="685800"/>
          </a:xfrm>
          <a:prstGeom prst="rect">
            <a:avLst/>
          </a:prstGeom>
          <a:noFill/>
        </p:spPr>
        <p:txBody>
          <a:bodyPr wrap="square">
            <a:spAutoFit/>
          </a:bodyPr>
          <a:lstStyle/>
          <a:p>
            <a:pPr algn="l"/>
            <a:r>
              <a:rPr sz="1400" b="0">
                <a:solidFill>
                  <a:srgbClr val="FFFFFF"/>
                </a:solidFill>
              </a:rPr>
              <a:t>▶  Développer des compétences professionnelles</a:t>
            </a:r>
          </a:p>
        </p:txBody>
      </p:sp>
      <p:sp>
        <p:nvSpPr>
          <p:cNvPr id="7" name="TextBox 6"/>
          <p:cNvSpPr txBox="1"/>
          <p:nvPr/>
        </p:nvSpPr>
        <p:spPr>
          <a:xfrm>
            <a:off x="731520" y="3127248"/>
            <a:ext cx="8046720" cy="685800"/>
          </a:xfrm>
          <a:prstGeom prst="rect">
            <a:avLst/>
          </a:prstGeom>
          <a:noFill/>
        </p:spPr>
        <p:txBody>
          <a:bodyPr wrap="square">
            <a:spAutoFit/>
          </a:bodyPr>
          <a:lstStyle/>
          <a:p>
            <a:pPr algn="l"/>
            <a:r>
              <a:rPr sz="1400" b="0">
                <a:solidFill>
                  <a:srgbClr val="FFFFFF"/>
                </a:solidFill>
              </a:rPr>
              <a:t>▶  Mettre en pratique les connaissances théoriques</a:t>
            </a:r>
          </a:p>
        </p:txBody>
      </p:sp>
      <p:sp>
        <p:nvSpPr>
          <p:cNvPr id="8" name="TextBox 7"/>
          <p:cNvSpPr txBox="1"/>
          <p:nvPr/>
        </p:nvSpPr>
        <p:spPr>
          <a:xfrm>
            <a:off x="731520" y="3877056"/>
            <a:ext cx="8046720" cy="685800"/>
          </a:xfrm>
          <a:prstGeom prst="rect">
            <a:avLst/>
          </a:prstGeom>
          <a:noFill/>
        </p:spPr>
        <p:txBody>
          <a:bodyPr wrap="square">
            <a:spAutoFit/>
          </a:bodyPr>
          <a:lstStyle/>
          <a:p>
            <a:pPr algn="l"/>
            <a:r>
              <a:rPr sz="1400" b="0">
                <a:solidFill>
                  <a:srgbClr val="FFFFFF"/>
                </a:solidFill>
              </a:rPr>
              <a:t>▶  Réalisé un stage pratique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365760" cy="6858000"/>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82880"/>
            <a:ext cx="8229600" cy="914400"/>
          </a:xfrm>
          <a:prstGeom prst="rect">
            <a:avLst/>
          </a:prstGeom>
          <a:noFill/>
        </p:spPr>
        <p:txBody>
          <a:bodyPr wrap="square">
            <a:spAutoFit/>
          </a:bodyPr>
          <a:lstStyle/>
          <a:p>
            <a:pPr algn="l"/>
            <a:r>
              <a:rPr sz="2600" b="1">
                <a:solidFill>
                  <a:srgbClr val="A78BFA"/>
                </a:solidFill>
              </a:rPr>
              <a:t>Avant-propos</a:t>
            </a:r>
          </a:p>
        </p:txBody>
      </p:sp>
      <p:sp>
        <p:nvSpPr>
          <p:cNvPr id="4" name="Rectangle 3"/>
          <p:cNvSpPr/>
          <p:nvPr/>
        </p:nvSpPr>
        <p:spPr>
          <a:xfrm>
            <a:off x="548640" y="1051560"/>
            <a:ext cx="8046720" cy="27432"/>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188720"/>
            <a:ext cx="8229600" cy="1097280"/>
          </a:xfrm>
          <a:prstGeom prst="rect">
            <a:avLst/>
          </a:prstGeom>
          <a:noFill/>
        </p:spPr>
        <p:txBody>
          <a:bodyPr wrap="square">
            <a:spAutoFit/>
          </a:bodyPr>
          <a:lstStyle/>
          <a:p>
            <a:pPr algn="l"/>
            <a:r>
              <a:rPr sz="1500" b="0">
                <a:solidFill>
                  <a:srgbClr val="94A3B8"/>
                </a:solidFill>
              </a:rPr>
              <a:t>Le mémoire présente les résultats d'un stage pratique réalisé au sein de TIA INFO, dans le cadre de la formation pour l'obtention du Diplôme de Technicien Supérieur (DTS) en informatique.</a:t>
            </a:r>
          </a:p>
        </p:txBody>
      </p:sp>
      <p:sp>
        <p:nvSpPr>
          <p:cNvPr id="6" name="TextBox 5"/>
          <p:cNvSpPr txBox="1"/>
          <p:nvPr/>
        </p:nvSpPr>
        <p:spPr>
          <a:xfrm>
            <a:off x="731520" y="2377440"/>
            <a:ext cx="8046720" cy="685800"/>
          </a:xfrm>
          <a:prstGeom prst="rect">
            <a:avLst/>
          </a:prstGeom>
          <a:noFill/>
        </p:spPr>
        <p:txBody>
          <a:bodyPr wrap="square">
            <a:spAutoFit/>
          </a:bodyPr>
          <a:lstStyle/>
          <a:p>
            <a:pPr algn="l"/>
            <a:r>
              <a:rPr sz="1400" b="0">
                <a:solidFill>
                  <a:srgbClr val="FFFFFF"/>
                </a:solidFill>
              </a:rPr>
              <a:t>▶  Stage pratique</a:t>
            </a:r>
          </a:p>
        </p:txBody>
      </p:sp>
      <p:sp>
        <p:nvSpPr>
          <p:cNvPr id="7" name="TextBox 6"/>
          <p:cNvSpPr txBox="1"/>
          <p:nvPr/>
        </p:nvSpPr>
        <p:spPr>
          <a:xfrm>
            <a:off x="731520" y="3127248"/>
            <a:ext cx="8046720" cy="685800"/>
          </a:xfrm>
          <a:prstGeom prst="rect">
            <a:avLst/>
          </a:prstGeom>
          <a:noFill/>
        </p:spPr>
        <p:txBody>
          <a:bodyPr wrap="square">
            <a:spAutoFit/>
          </a:bodyPr>
          <a:lstStyle/>
          <a:p>
            <a:pPr algn="l"/>
            <a:r>
              <a:rPr sz="1400" b="0">
                <a:solidFill>
                  <a:srgbClr val="FFFFFF"/>
                </a:solidFill>
              </a:rPr>
              <a:t>▶  TIA INFO</a:t>
            </a:r>
          </a:p>
        </p:txBody>
      </p:sp>
      <p:sp>
        <p:nvSpPr>
          <p:cNvPr id="8" name="TextBox 7"/>
          <p:cNvSpPr txBox="1"/>
          <p:nvPr/>
        </p:nvSpPr>
        <p:spPr>
          <a:xfrm>
            <a:off x="731520" y="3877056"/>
            <a:ext cx="8046720" cy="685800"/>
          </a:xfrm>
          <a:prstGeom prst="rect">
            <a:avLst/>
          </a:prstGeom>
          <a:noFill/>
        </p:spPr>
        <p:txBody>
          <a:bodyPr wrap="square">
            <a:spAutoFit/>
          </a:bodyPr>
          <a:lstStyle/>
          <a:p>
            <a:pPr algn="l"/>
            <a:r>
              <a:rPr sz="1400" b="0">
                <a:solidFill>
                  <a:srgbClr val="FFFFFF"/>
                </a:solidFill>
              </a:rPr>
              <a:t>▶  Développement de compétences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365760" cy="6858000"/>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82880"/>
            <a:ext cx="8229600" cy="914400"/>
          </a:xfrm>
          <a:prstGeom prst="rect">
            <a:avLst/>
          </a:prstGeom>
          <a:noFill/>
        </p:spPr>
        <p:txBody>
          <a:bodyPr wrap="square">
            <a:spAutoFit/>
          </a:bodyPr>
          <a:lstStyle/>
          <a:p>
            <a:pPr algn="l"/>
            <a:r>
              <a:rPr sz="2600" b="1">
                <a:solidFill>
                  <a:srgbClr val="FBBF24"/>
                </a:solidFill>
              </a:rPr>
              <a:t>Méthodologie</a:t>
            </a:r>
          </a:p>
        </p:txBody>
      </p:sp>
      <p:sp>
        <p:nvSpPr>
          <p:cNvPr id="4" name="Rectangle 3"/>
          <p:cNvSpPr/>
          <p:nvPr/>
        </p:nvSpPr>
        <p:spPr>
          <a:xfrm>
            <a:off x="548640" y="1051560"/>
            <a:ext cx="8046720" cy="27432"/>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188720"/>
            <a:ext cx="8229600" cy="1097280"/>
          </a:xfrm>
          <a:prstGeom prst="rect">
            <a:avLst/>
          </a:prstGeom>
          <a:noFill/>
        </p:spPr>
        <p:txBody>
          <a:bodyPr wrap="square">
            <a:spAutoFit/>
          </a:bodyPr>
          <a:lstStyle/>
          <a:p>
            <a:pPr algn="l"/>
            <a:r>
              <a:rPr sz="1500" b="0">
                <a:solidFill>
                  <a:srgbClr val="94A3B8"/>
                </a:solidFill>
              </a:rPr>
              <a:t>La méthodologie utilisée pour ce mémoire consiste à réaliser un stage pratique au sein de TIA INFO, où l'auteur a travaillé sur divers projets et a développé ses compétences dans le domaine de l'informatique.</a:t>
            </a:r>
          </a:p>
        </p:txBody>
      </p:sp>
      <p:sp>
        <p:nvSpPr>
          <p:cNvPr id="6" name="TextBox 5"/>
          <p:cNvSpPr txBox="1"/>
          <p:nvPr/>
        </p:nvSpPr>
        <p:spPr>
          <a:xfrm>
            <a:off x="731520" y="2377440"/>
            <a:ext cx="8046720" cy="685800"/>
          </a:xfrm>
          <a:prstGeom prst="rect">
            <a:avLst/>
          </a:prstGeom>
          <a:noFill/>
        </p:spPr>
        <p:txBody>
          <a:bodyPr wrap="square">
            <a:spAutoFit/>
          </a:bodyPr>
          <a:lstStyle/>
          <a:p>
            <a:pPr algn="l"/>
            <a:r>
              <a:rPr sz="1400" b="0">
                <a:solidFill>
                  <a:srgbClr val="FFFFFF"/>
                </a:solidFill>
              </a:rPr>
              <a:t>▶  Stage pratique</a:t>
            </a:r>
          </a:p>
        </p:txBody>
      </p:sp>
      <p:sp>
        <p:nvSpPr>
          <p:cNvPr id="7" name="TextBox 6"/>
          <p:cNvSpPr txBox="1"/>
          <p:nvPr/>
        </p:nvSpPr>
        <p:spPr>
          <a:xfrm>
            <a:off x="731520" y="3127248"/>
            <a:ext cx="8046720" cy="685800"/>
          </a:xfrm>
          <a:prstGeom prst="rect">
            <a:avLst/>
          </a:prstGeom>
          <a:noFill/>
        </p:spPr>
        <p:txBody>
          <a:bodyPr wrap="square">
            <a:spAutoFit/>
          </a:bodyPr>
          <a:lstStyle/>
          <a:p>
            <a:pPr algn="l"/>
            <a:r>
              <a:rPr sz="1400" b="0">
                <a:solidFill>
                  <a:srgbClr val="FFFFFF"/>
                </a:solidFill>
              </a:rPr>
              <a:t>▶  TIA INFO</a:t>
            </a:r>
          </a:p>
        </p:txBody>
      </p:sp>
      <p:sp>
        <p:nvSpPr>
          <p:cNvPr id="8" name="TextBox 7"/>
          <p:cNvSpPr txBox="1"/>
          <p:nvPr/>
        </p:nvSpPr>
        <p:spPr>
          <a:xfrm>
            <a:off x="731520" y="3877056"/>
            <a:ext cx="8046720" cy="685800"/>
          </a:xfrm>
          <a:prstGeom prst="rect">
            <a:avLst/>
          </a:prstGeom>
          <a:noFill/>
        </p:spPr>
        <p:txBody>
          <a:bodyPr wrap="square">
            <a:spAutoFit/>
          </a:bodyPr>
          <a:lstStyle/>
          <a:p>
            <a:pPr algn="l"/>
            <a:r>
              <a:rPr sz="1400" b="0">
                <a:solidFill>
                  <a:srgbClr val="FFFFFF"/>
                </a:solidFill>
              </a:rPr>
              <a:t>▶  Développement de compétences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365760" cy="685800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82880"/>
            <a:ext cx="8229600" cy="914400"/>
          </a:xfrm>
          <a:prstGeom prst="rect">
            <a:avLst/>
          </a:prstGeom>
          <a:noFill/>
        </p:spPr>
        <p:txBody>
          <a:bodyPr wrap="square">
            <a:spAutoFit/>
          </a:bodyPr>
          <a:lstStyle/>
          <a:p>
            <a:pPr algn="l"/>
            <a:r>
              <a:rPr sz="2600" b="1">
                <a:solidFill>
                  <a:srgbClr val="22C55E"/>
                </a:solidFill>
              </a:rPr>
              <a:t>Résultats</a:t>
            </a:r>
          </a:p>
        </p:txBody>
      </p:sp>
      <p:sp>
        <p:nvSpPr>
          <p:cNvPr id="4" name="TextBox 3"/>
          <p:cNvSpPr txBox="1"/>
          <p:nvPr/>
        </p:nvSpPr>
        <p:spPr>
          <a:xfrm>
            <a:off x="548640" y="1188720"/>
            <a:ext cx="8229600" cy="1097280"/>
          </a:xfrm>
          <a:prstGeom prst="rect">
            <a:avLst/>
          </a:prstGeom>
          <a:noFill/>
        </p:spPr>
        <p:txBody>
          <a:bodyPr wrap="square">
            <a:spAutoFit/>
          </a:bodyPr>
          <a:lstStyle/>
          <a:p>
            <a:pPr algn="l"/>
            <a:r>
              <a:rPr sz="1500" b="0">
                <a:solidFill>
                  <a:srgbClr val="94A3B8"/>
                </a:solidFill>
              </a:rPr>
              <a:t>Les résultats clés de ce mémoire sont la réalisation d'un stage pratique au sein de TIA INFO, le développement de compétences professionnelles dans le domaine de l'informatique et la mise en pratique des connaissances théoriques acquises pendant les cours.</a:t>
            </a:r>
          </a:p>
        </p:txBody>
      </p:sp>
      <p:sp>
        <p:nvSpPr>
          <p:cNvPr id="5" name="TextBox 4"/>
          <p:cNvSpPr txBox="1"/>
          <p:nvPr/>
        </p:nvSpPr>
        <p:spPr>
          <a:xfrm>
            <a:off x="731520" y="2377440"/>
            <a:ext cx="8046720" cy="685800"/>
          </a:xfrm>
          <a:prstGeom prst="rect">
            <a:avLst/>
          </a:prstGeom>
          <a:noFill/>
        </p:spPr>
        <p:txBody>
          <a:bodyPr wrap="square">
            <a:spAutoFit/>
          </a:bodyPr>
          <a:lstStyle/>
          <a:p>
            <a:pPr algn="l"/>
            <a:r>
              <a:rPr sz="1400" b="0">
                <a:solidFill>
                  <a:srgbClr val="FFFFFF"/>
                </a:solidFill>
              </a:rPr>
              <a:t>✅  Réalisation d'un stage pratique</a:t>
            </a:r>
          </a:p>
        </p:txBody>
      </p:sp>
      <p:sp>
        <p:nvSpPr>
          <p:cNvPr id="6" name="TextBox 5"/>
          <p:cNvSpPr txBox="1"/>
          <p:nvPr/>
        </p:nvSpPr>
        <p:spPr>
          <a:xfrm>
            <a:off x="731520" y="3127248"/>
            <a:ext cx="8046720" cy="685800"/>
          </a:xfrm>
          <a:prstGeom prst="rect">
            <a:avLst/>
          </a:prstGeom>
          <a:noFill/>
        </p:spPr>
        <p:txBody>
          <a:bodyPr wrap="square">
            <a:spAutoFit/>
          </a:bodyPr>
          <a:lstStyle/>
          <a:p>
            <a:pPr algn="l"/>
            <a:r>
              <a:rPr sz="1400" b="0">
                <a:solidFill>
                  <a:srgbClr val="FFFFFF"/>
                </a:solidFill>
              </a:rPr>
              <a:t>✅  Développement de compétences professionnelles</a:t>
            </a:r>
          </a:p>
        </p:txBody>
      </p:sp>
      <p:sp>
        <p:nvSpPr>
          <p:cNvPr id="7" name="TextBox 6"/>
          <p:cNvSpPr txBox="1"/>
          <p:nvPr/>
        </p:nvSpPr>
        <p:spPr>
          <a:xfrm>
            <a:off x="731520" y="3877056"/>
            <a:ext cx="8046720" cy="685800"/>
          </a:xfrm>
          <a:prstGeom prst="rect">
            <a:avLst/>
          </a:prstGeom>
          <a:noFill/>
        </p:spPr>
        <p:txBody>
          <a:bodyPr wrap="square">
            <a:spAutoFit/>
          </a:bodyPr>
          <a:lstStyle/>
          <a:p>
            <a:pPr algn="l"/>
            <a:r>
              <a:rPr sz="1400" b="0">
                <a:solidFill>
                  <a:srgbClr val="FFFFFF"/>
                </a:solidFill>
              </a:rPr>
              <a:t>✅  Mise en pratique des connaissances théoriques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6366F1"/>
        </a:solidFill>
        <a:effectLst/>
      </p:bgPr>
    </p:bg>
    <p:spTree>
      <p:nvGrpSpPr>
        <p:cNvPr id="1" name=""/>
        <p:cNvGrpSpPr/>
        <p:nvPr/>
      </p:nvGrpSpPr>
      <p:grpSpPr/>
      <p:sp>
        <p:nvSpPr>
          <p:cNvPr id="2" name="TextBox 1"/>
          <p:cNvSpPr txBox="1"/>
          <p:nvPr/>
        </p:nvSpPr>
        <p:spPr>
          <a:xfrm>
            <a:off x="914400" y="1097280"/>
            <a:ext cx="7315200" cy="1097280"/>
          </a:xfrm>
          <a:prstGeom prst="rect">
            <a:avLst/>
          </a:prstGeom>
          <a:noFill/>
        </p:spPr>
        <p:txBody>
          <a:bodyPr wrap="square">
            <a:spAutoFit/>
          </a:bodyPr>
          <a:lstStyle/>
          <a:p>
            <a:pPr algn="ctr"/>
            <a:r>
              <a:rPr sz="3200" b="1">
                <a:solidFill>
                  <a:srgbClr val="FFFFFF"/>
                </a:solidFill>
              </a:rPr>
              <a:t>Discussion</a:t>
            </a:r>
          </a:p>
        </p:txBody>
      </p:sp>
      <p:sp>
        <p:nvSpPr>
          <p:cNvPr id="3" name="TextBox 2"/>
          <p:cNvSpPr txBox="1"/>
          <p:nvPr/>
        </p:nvSpPr>
        <p:spPr>
          <a:xfrm>
            <a:off x="914400" y="2377440"/>
            <a:ext cx="7315200" cy="1371600"/>
          </a:xfrm>
          <a:prstGeom prst="rect">
            <a:avLst/>
          </a:prstGeom>
          <a:noFill/>
        </p:spPr>
        <p:txBody>
          <a:bodyPr wrap="square">
            <a:spAutoFit/>
          </a:bodyPr>
          <a:lstStyle/>
          <a:p>
            <a:pPr algn="ctr"/>
            <a:r>
              <a:rPr sz="1600" b="0">
                <a:solidFill>
                  <a:srgbClr val="FFFFFF"/>
                </a:solidFill>
              </a:rPr>
              <a:t>La discussion des résultats montre que le stage a été une expérience enrichissante qui a permis de mettre en pratique les connaissances théoriques acquises pendant les cours et de développer des compétences professionnelles dans le domaine de l'informatique.</a:t>
            </a:r>
          </a:p>
        </p:txBody>
      </p:sp>
      <p:sp>
        <p:nvSpPr>
          <p:cNvPr id="4" name="TextBox 3"/>
          <p:cNvSpPr txBox="1"/>
          <p:nvPr/>
        </p:nvSpPr>
        <p:spPr>
          <a:xfrm>
            <a:off x="914400" y="3931920"/>
            <a:ext cx="7315200" cy="640080"/>
          </a:xfrm>
          <a:prstGeom prst="rect">
            <a:avLst/>
          </a:prstGeom>
          <a:noFill/>
        </p:spPr>
        <p:txBody>
          <a:bodyPr wrap="square">
            <a:spAutoFit/>
          </a:bodyPr>
          <a:lstStyle/>
          <a:p>
            <a:pPr algn="l"/>
            <a:r>
              <a:rPr sz="1400" b="0">
                <a:solidFill>
                  <a:srgbClr val="FBBF24"/>
                </a:solidFill>
              </a:rPr>
              <a:t>▶  Stage pratique</a:t>
            </a:r>
          </a:p>
        </p:txBody>
      </p:sp>
      <p:sp>
        <p:nvSpPr>
          <p:cNvPr id="5" name="TextBox 4"/>
          <p:cNvSpPr txBox="1"/>
          <p:nvPr/>
        </p:nvSpPr>
        <p:spPr>
          <a:xfrm>
            <a:off x="914400" y="4617720"/>
            <a:ext cx="7315200" cy="640080"/>
          </a:xfrm>
          <a:prstGeom prst="rect">
            <a:avLst/>
          </a:prstGeom>
          <a:noFill/>
        </p:spPr>
        <p:txBody>
          <a:bodyPr wrap="square">
            <a:spAutoFit/>
          </a:bodyPr>
          <a:lstStyle/>
          <a:p>
            <a:pPr algn="l"/>
            <a:r>
              <a:rPr sz="1400" b="0">
                <a:solidFill>
                  <a:srgbClr val="FBBF24"/>
                </a:solidFill>
              </a:rPr>
              <a:t>▶  TIA INFO</a:t>
            </a:r>
          </a:p>
        </p:txBody>
      </p:sp>
      <p:sp>
        <p:nvSpPr>
          <p:cNvPr id="6" name="TextBox 5"/>
          <p:cNvSpPr txBox="1"/>
          <p:nvPr/>
        </p:nvSpPr>
        <p:spPr>
          <a:xfrm>
            <a:off x="914400" y="5303520"/>
            <a:ext cx="7315200" cy="640080"/>
          </a:xfrm>
          <a:prstGeom prst="rect">
            <a:avLst/>
          </a:prstGeom>
          <a:noFill/>
        </p:spPr>
        <p:txBody>
          <a:bodyPr wrap="square">
            <a:spAutoFit/>
          </a:bodyPr>
          <a:lstStyle/>
          <a:p>
            <a:pPr algn="l"/>
            <a:r>
              <a:rPr sz="1400" b="0">
                <a:solidFill>
                  <a:srgbClr val="FBBF24"/>
                </a:solidFill>
              </a:rPr>
              <a:t>▶  Développement de compétences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6366F1"/>
        </a:solidFill>
        <a:effectLst/>
      </p:bgPr>
    </p:bg>
    <p:spTree>
      <p:nvGrpSpPr>
        <p:cNvPr id="1" name=""/>
        <p:cNvGrpSpPr/>
        <p:nvPr/>
      </p:nvGrpSpPr>
      <p:grpSpPr/>
      <p:sp>
        <p:nvSpPr>
          <p:cNvPr id="2" name="TextBox 1"/>
          <p:cNvSpPr txBox="1"/>
          <p:nvPr/>
        </p:nvSpPr>
        <p:spPr>
          <a:xfrm>
            <a:off x="914400" y="1097280"/>
            <a:ext cx="7315200" cy="1097280"/>
          </a:xfrm>
          <a:prstGeom prst="rect">
            <a:avLst/>
          </a:prstGeom>
          <a:noFill/>
        </p:spPr>
        <p:txBody>
          <a:bodyPr wrap="square">
            <a:spAutoFit/>
          </a:bodyPr>
          <a:lstStyle/>
          <a:p>
            <a:pPr algn="ctr"/>
            <a:r>
              <a:rPr sz="3200" b="1">
                <a:solidFill>
                  <a:srgbClr val="FFFFFF"/>
                </a:solidFill>
              </a:rPr>
              <a:t>Conclusion</a:t>
            </a:r>
          </a:p>
        </p:txBody>
      </p:sp>
      <p:sp>
        <p:nvSpPr>
          <p:cNvPr id="3" name="TextBox 2"/>
          <p:cNvSpPr txBox="1"/>
          <p:nvPr/>
        </p:nvSpPr>
        <p:spPr>
          <a:xfrm>
            <a:off x="914400" y="2377440"/>
            <a:ext cx="7315200" cy="1371600"/>
          </a:xfrm>
          <a:prstGeom prst="rect">
            <a:avLst/>
          </a:prstGeom>
          <a:noFill/>
        </p:spPr>
        <p:txBody>
          <a:bodyPr wrap="square">
            <a:spAutoFit/>
          </a:bodyPr>
          <a:lstStyle/>
          <a:p>
            <a:pPr algn="ctr"/>
            <a:r>
              <a:rPr sz="1600" b="0">
                <a:solidFill>
                  <a:srgbClr val="FFFFFF"/>
                </a:solidFill>
              </a:rPr>
              <a:t>En conclusion, ce mémoire présente les résultats d'un stage pratique réalisé au sein de TIA INFO, dans le cadre de la formation pour l'obtention du Diplôme de Technicien Supérieur (DTS) en informatique.</a:t>
            </a:r>
          </a:p>
        </p:txBody>
      </p:sp>
      <p:sp>
        <p:nvSpPr>
          <p:cNvPr id="4" name="TextBox 3"/>
          <p:cNvSpPr txBox="1"/>
          <p:nvPr/>
        </p:nvSpPr>
        <p:spPr>
          <a:xfrm>
            <a:off x="914400" y="3931920"/>
            <a:ext cx="7315200" cy="640080"/>
          </a:xfrm>
          <a:prstGeom prst="rect">
            <a:avLst/>
          </a:prstGeom>
          <a:noFill/>
        </p:spPr>
        <p:txBody>
          <a:bodyPr wrap="square">
            <a:spAutoFit/>
          </a:bodyPr>
          <a:lstStyle/>
          <a:p>
            <a:pPr algn="l"/>
            <a:r>
              <a:rPr sz="1400" b="0">
                <a:solidFill>
                  <a:srgbClr val="FBBF24"/>
                </a:solidFill>
              </a:rPr>
              <a:t>▶  Stage pratique</a:t>
            </a:r>
          </a:p>
        </p:txBody>
      </p:sp>
      <p:sp>
        <p:nvSpPr>
          <p:cNvPr id="5" name="TextBox 4"/>
          <p:cNvSpPr txBox="1"/>
          <p:nvPr/>
        </p:nvSpPr>
        <p:spPr>
          <a:xfrm>
            <a:off x="914400" y="4617720"/>
            <a:ext cx="7315200" cy="640080"/>
          </a:xfrm>
          <a:prstGeom prst="rect">
            <a:avLst/>
          </a:prstGeom>
          <a:noFill/>
        </p:spPr>
        <p:txBody>
          <a:bodyPr wrap="square">
            <a:spAutoFit/>
          </a:bodyPr>
          <a:lstStyle/>
          <a:p>
            <a:pPr algn="l"/>
            <a:r>
              <a:rPr sz="1400" b="0">
                <a:solidFill>
                  <a:srgbClr val="FBBF24"/>
                </a:solidFill>
              </a:rPr>
              <a:t>▶  TIA INFO</a:t>
            </a:r>
          </a:p>
        </p:txBody>
      </p:sp>
      <p:sp>
        <p:nvSpPr>
          <p:cNvPr id="6" name="TextBox 5"/>
          <p:cNvSpPr txBox="1"/>
          <p:nvPr/>
        </p:nvSpPr>
        <p:spPr>
          <a:xfrm>
            <a:off x="914400" y="5303520"/>
            <a:ext cx="7315200" cy="640080"/>
          </a:xfrm>
          <a:prstGeom prst="rect">
            <a:avLst/>
          </a:prstGeom>
          <a:noFill/>
        </p:spPr>
        <p:txBody>
          <a:bodyPr wrap="square">
            <a:spAutoFit/>
          </a:bodyPr>
          <a:lstStyle/>
          <a:p>
            <a:pPr algn="l"/>
            <a:r>
              <a:rPr sz="1400" b="0">
                <a:solidFill>
                  <a:srgbClr val="FBBF24"/>
                </a:solidFill>
              </a:rPr>
              <a:t>▶  Développement de compétences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914400" y="2286000"/>
            <a:ext cx="7315200" cy="1371600"/>
          </a:xfrm>
          <a:prstGeom prst="rect">
            <a:avLst/>
          </a:prstGeom>
          <a:noFill/>
        </p:spPr>
        <p:txBody>
          <a:bodyPr wrap="square">
            <a:spAutoFit/>
          </a:bodyPr>
          <a:lstStyle/>
          <a:p>
            <a:pPr algn="ctr"/>
            <a:r>
              <a:rPr sz="3600" b="1">
                <a:solidFill>
                  <a:srgbClr val="FB923C"/>
                </a:solidFill>
              </a:rPr>
              <a:t>Merci pour votre attention ! 🙏</a:t>
            </a:r>
          </a:p>
        </p:txBody>
      </p:sp>
      <p:sp>
        <p:nvSpPr>
          <p:cNvPr id="3" name="TextBox 2"/>
          <p:cNvSpPr txBox="1"/>
          <p:nvPr/>
        </p:nvSpPr>
        <p:spPr>
          <a:xfrm>
            <a:off x="914400" y="3657600"/>
            <a:ext cx="7315200" cy="914400"/>
          </a:xfrm>
          <a:prstGeom prst="rect">
            <a:avLst/>
          </a:prstGeom>
          <a:noFill/>
        </p:spPr>
        <p:txBody>
          <a:bodyPr wrap="square">
            <a:spAutoFit/>
          </a:bodyPr>
          <a:lstStyle/>
          <a:p>
            <a:pPr algn="ctr"/>
            <a:r>
              <a:rPr sz="2200" b="0">
                <a:solidFill>
                  <a:srgbClr val="FFFFFF"/>
                </a:solidFill>
              </a:rPr>
              <a:t>Des questions ?</a:t>
            </a:r>
          </a:p>
        </p:txBody>
      </p:sp>
      <p:sp>
        <p:nvSpPr>
          <p:cNvPr id="4" name="TextBox 3"/>
          <p:cNvSpPr txBox="1"/>
          <p:nvPr/>
        </p:nvSpPr>
        <p:spPr>
          <a:xfrm>
            <a:off x="914400" y="5943600"/>
            <a:ext cx="7315200" cy="548640"/>
          </a:xfrm>
          <a:prstGeom prst="rect">
            <a:avLst/>
          </a:prstGeom>
          <a:noFill/>
        </p:spPr>
        <p:txBody>
          <a:bodyPr wrap="square">
            <a:spAutoFit/>
          </a:bodyPr>
          <a:lstStyle/>
          <a:p>
            <a:pPr algn="ctr"/>
            <a:r>
              <a:rPr sz="1100" b="0">
                <a:solidFill>
                  <a:srgbClr val="94A3B8"/>
                </a:solidFill>
              </a:rPr>
              <a:t>Généré par Mpianatra-midev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914400" y="2286000"/>
            <a:ext cx="7315200" cy="1371600"/>
          </a:xfrm>
          <a:prstGeom prst="rect">
            <a:avLst/>
          </a:prstGeom>
          <a:noFill/>
        </p:spPr>
        <p:txBody>
          <a:bodyPr wrap="square">
            <a:spAutoFit/>
          </a:bodyPr>
          <a:lstStyle/>
          <a:p>
            <a:pPr algn="ctr"/>
            <a:r>
              <a:rPr sz="3600" b="1">
                <a:solidFill>
                  <a:srgbClr val="FB923C"/>
                </a:solidFill>
              </a:rPr>
              <a:t>Merci pour votre attention ! 🙏</a:t>
            </a:r>
          </a:p>
        </p:txBody>
      </p:sp>
      <p:sp>
        <p:nvSpPr>
          <p:cNvPr id="3" name="TextBox 2"/>
          <p:cNvSpPr txBox="1"/>
          <p:nvPr/>
        </p:nvSpPr>
        <p:spPr>
          <a:xfrm>
            <a:off x="914400" y="3657600"/>
            <a:ext cx="7315200" cy="914400"/>
          </a:xfrm>
          <a:prstGeom prst="rect">
            <a:avLst/>
          </a:prstGeom>
          <a:noFill/>
        </p:spPr>
        <p:txBody>
          <a:bodyPr wrap="square">
            <a:spAutoFit/>
          </a:bodyPr>
          <a:lstStyle/>
          <a:p>
            <a:pPr algn="ctr"/>
            <a:r>
              <a:rPr sz="2200" b="0">
                <a:solidFill>
                  <a:srgbClr val="FFFFFF"/>
                </a:solidFill>
              </a:rPr>
              <a:t>Des questions ?</a:t>
            </a:r>
          </a:p>
        </p:txBody>
      </p:sp>
      <p:sp>
        <p:nvSpPr>
          <p:cNvPr id="4" name="TextBox 3"/>
          <p:cNvSpPr txBox="1"/>
          <p:nvPr/>
        </p:nvSpPr>
        <p:spPr>
          <a:xfrm>
            <a:off x="914400" y="5943600"/>
            <a:ext cx="7315200" cy="548640"/>
          </a:xfrm>
          <a:prstGeom prst="rect">
            <a:avLst/>
          </a:prstGeom>
          <a:noFill/>
        </p:spPr>
        <p:txBody>
          <a:bodyPr wrap="square">
            <a:spAutoFit/>
          </a:bodyPr>
          <a:lstStyle/>
          <a:p>
            <a:pPr algn="ctr"/>
            <a:r>
              <a:rPr sz="1100" b="0">
                <a:solidFill>
                  <a:srgbClr val="94A3B8"/>
                </a:solidFill>
              </a:rPr>
              <a:t>Généré par Mpianatra-midev</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